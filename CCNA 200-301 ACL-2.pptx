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sldIdLst>
    <p:sldId id="256" r:id="rId2"/>
    <p:sldId id="257" r:id="rId3"/>
    <p:sldId id="345" r:id="rId4"/>
    <p:sldId id="299" r:id="rId5"/>
    <p:sldId id="300" r:id="rId6"/>
    <p:sldId id="301" r:id="rId7"/>
    <p:sldId id="302" r:id="rId8"/>
    <p:sldId id="346" r:id="rId9"/>
    <p:sldId id="303" r:id="rId10"/>
    <p:sldId id="305" r:id="rId11"/>
    <p:sldId id="306" r:id="rId12"/>
    <p:sldId id="347" r:id="rId13"/>
    <p:sldId id="308" r:id="rId14"/>
    <p:sldId id="309" r:id="rId15"/>
    <p:sldId id="310" r:id="rId16"/>
    <p:sldId id="312" r:id="rId17"/>
    <p:sldId id="313" r:id="rId18"/>
    <p:sldId id="314" r:id="rId19"/>
    <p:sldId id="315" r:id="rId20"/>
    <p:sldId id="348" r:id="rId21"/>
    <p:sldId id="317" r:id="rId22"/>
    <p:sldId id="316" r:id="rId23"/>
    <p:sldId id="319" r:id="rId24"/>
    <p:sldId id="320" r:id="rId25"/>
    <p:sldId id="322" r:id="rId26"/>
    <p:sldId id="324" r:id="rId27"/>
    <p:sldId id="327" r:id="rId28"/>
    <p:sldId id="32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ean Wilkins" initials="S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D058C4-4F7D-4B86-91DA-0C2A5DAE1540}" v="49" dt="2019-11-13T20:44:42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80897" autoAdjust="0"/>
  </p:normalViewPr>
  <p:slideViewPr>
    <p:cSldViewPr>
      <p:cViewPr varScale="1">
        <p:scale>
          <a:sx n="90" d="100"/>
          <a:sy n="90" d="100"/>
        </p:scale>
        <p:origin x="125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C90D0-67E9-4F64-9234-AE5CC3E58CA0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7360-853A-4C07-9725-90698485EC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7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08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46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55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847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39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85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16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585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691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39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812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72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35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18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35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20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25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70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5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8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8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1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8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9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3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8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3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1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1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A17D9E7-6722-41D2-9C2B-6686F1DA4B77}" type="datetimeFigureOut">
              <a:rPr lang="en-US" smtClean="0"/>
              <a:pPr/>
              <a:t>4/18/2021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0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62200"/>
          </a:xfrm>
        </p:spPr>
        <p:txBody>
          <a:bodyPr>
            <a:normAutofit/>
          </a:bodyPr>
          <a:lstStyle/>
          <a:p>
            <a:r>
              <a:rPr lang="en-US" dirty="0"/>
              <a:t>CCNA 200-301, Volume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343400"/>
            <a:ext cx="7086600" cy="1295400"/>
          </a:xfrm>
        </p:spPr>
        <p:txBody>
          <a:bodyPr>
            <a:normAutofit/>
          </a:bodyPr>
          <a:lstStyle/>
          <a:p>
            <a:r>
              <a:rPr lang="en-US" b="1" dirty="0"/>
              <a:t>Advanced IPv4 Access Control Lists</a:t>
            </a:r>
          </a:p>
        </p:txBody>
      </p:sp>
    </p:spTree>
    <p:extLst>
      <p:ext uri="{BB962C8B-B14F-4D97-AF65-F5344CB8AC3E}">
        <p14:creationId xmlns:p14="http://schemas.microsoft.com/office/powerpoint/2010/main" val="134848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Configure and verify access control lists</a:t>
            </a:r>
          </a:p>
        </p:txBody>
      </p:sp>
    </p:spTree>
    <p:extLst>
      <p:ext uri="{BB962C8B-B14F-4D97-AF65-F5344CB8AC3E}">
        <p14:creationId xmlns:p14="http://schemas.microsoft.com/office/powerpoint/2010/main" val="97449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995A-B203-4467-A9D7-A7BD5F90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of IP ACL Types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190F1B-7638-4269-A2C5-6D4A921A3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9959" y="2384567"/>
            <a:ext cx="5784081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7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060C45-48C6-4BB3-9740-188AF497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 Header, with Focus on Required Fields in Extended IP ACLs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6A5E727-0BD9-4D6D-BC0F-EB8A40DB6C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079" y="2362200"/>
            <a:ext cx="8349842" cy="185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54354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DE9B0-1652-4A78-BD04-48FCDD89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ACL Syntax, with Required Fields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826F00B-12A6-47FA-B206-13E72DC41B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461419"/>
            <a:ext cx="6029235" cy="3253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92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5D00AF-F27A-460D-8B73-CB8B43C8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</a:t>
            </a:r>
            <a:r>
              <a:rPr lang="en-US" b="1" dirty="0"/>
              <a:t>access-list</a:t>
            </a:r>
            <a:r>
              <a:rPr lang="en-US" dirty="0"/>
              <a:t> Commands and Logic Explanations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0506659-511C-46D6-B731-186ABE75FD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102956"/>
              </p:ext>
            </p:extLst>
          </p:nvPr>
        </p:nvGraphicFramePr>
        <p:xfrm>
          <a:off x="449179" y="2438400"/>
          <a:ext cx="8237622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8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alibri" pitchFamily="34" charset="0"/>
                        </a:rPr>
                        <a:t>access-list</a:t>
                      </a:r>
                      <a:r>
                        <a:rPr lang="en-US" b="0" baseline="0" dirty="0">
                          <a:latin typeface="Calibri" pitchFamily="34" charset="0"/>
                        </a:rPr>
                        <a:t> Statement</a:t>
                      </a:r>
                      <a:endParaRPr lang="en-US" b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What it 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IP packet that has a TCP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udp any any</a:t>
                      </a:r>
                      <a:endParaRPr lang="en-US" b="1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IP packet that has a UDP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icmp any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IP packet that has an ICMP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ip host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1.1.1.1 host 2.2.2.2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All IP packets from host 1.1.1.1 going to host 2.2.2.2, regardless of the header after the IP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udp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1.1.1.0 0.0.0.255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All IP packets that have a UDP header following the IP header, from subnet 1.1.1.0/24, and going to any destination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3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57A81A-FA3A-4358-A412-FCA15DC3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 Header, Followed by a TCP Header and Port Number Fields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80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971800"/>
            <a:ext cx="7968299" cy="1795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499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57A81A-FA3A-4358-A412-FCA15DC3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ACL Syntax with TCP and UDP Port Numbers Enabled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6D76E57-08F5-4B67-980A-9C03D8DEA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4745" y="2971800"/>
            <a:ext cx="661451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3803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99120-D136-4FC2-BC8B-B0F509FA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 Packets Based on Destination Port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39C3B34-AA1F-4E76-A479-162B77B304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412" y="2743200"/>
            <a:ext cx="7661176" cy="272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9825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7985" y="2514600"/>
            <a:ext cx="7388030" cy="272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AE2EDE4-6D58-474A-A20C-DEA7B5F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 Packets Based on Source Port</a:t>
            </a:r>
          </a:p>
        </p:txBody>
      </p:sp>
    </p:spTree>
    <p:extLst>
      <p:ext uri="{BB962C8B-B14F-4D97-AF65-F5344CB8AC3E}">
        <p14:creationId xmlns:p14="http://schemas.microsoft.com/office/powerpoint/2010/main" val="99678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2FB094-C6C2-498F-B8E4-3D58D7B6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 Applications and Their Well-Known Port Numbers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C08A2BD-F6DE-409D-AD22-E1815F1B98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588728"/>
              </p:ext>
            </p:extLst>
          </p:nvPr>
        </p:nvGraphicFramePr>
        <p:xfrm>
          <a:off x="457200" y="2249488"/>
          <a:ext cx="8229600" cy="4151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3295">
                <a:tc>
                  <a:txBody>
                    <a:bodyPr/>
                    <a:lstStyle/>
                    <a:p>
                      <a:r>
                        <a:rPr lang="en-US" dirty="0"/>
                        <a:t>Port Number(s)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access-list </a:t>
                      </a:r>
                      <a:r>
                        <a:rPr lang="en-US" b="0" dirty="0"/>
                        <a:t>Command Keyword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FTP</a:t>
                      </a:r>
                      <a:r>
                        <a:rPr lang="en-US" baseline="0" dirty="0"/>
                        <a:t>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ftp-data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FTP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telnet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smtp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UDP,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DHCP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bootps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DHCP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bootpc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28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2FB094-C6C2-498F-B8E4-3D58D7B6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 Applications and Their Well-Known Port Numbers (continued)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D3F5955-1A09-4DC4-A0E3-662CD3812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771220"/>
              </p:ext>
            </p:extLst>
          </p:nvPr>
        </p:nvGraphicFramePr>
        <p:xfrm>
          <a:off x="457200" y="2249489"/>
          <a:ext cx="8229600" cy="412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575">
                <a:tc>
                  <a:txBody>
                    <a:bodyPr/>
                    <a:lstStyle/>
                    <a:p>
                      <a:r>
                        <a:rPr lang="en-US" dirty="0"/>
                        <a:t>Port Number(s)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access-list </a:t>
                      </a:r>
                      <a:r>
                        <a:rPr lang="en-US" b="0" dirty="0"/>
                        <a:t>Command Keyword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tftp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378711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 (WWW)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www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pop3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snmp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24">
                <a:tc>
                  <a:txBody>
                    <a:bodyPr/>
                    <a:lstStyle/>
                    <a:p>
                      <a:r>
                        <a:rPr lang="en-US" dirty="0"/>
                        <a:t>16,384-32,767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RTP (Voice, Video)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11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29B7F-F9C5-4340-9C69-E6E76DFC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8664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Extended </a:t>
            </a:r>
            <a:r>
              <a:rPr lang="en-US" b="1" dirty="0"/>
              <a:t>access-list</a:t>
            </a:r>
            <a:r>
              <a:rPr lang="en-US" dirty="0"/>
              <a:t> Command Examples and Logic Explanations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B894575-8B56-4172-B326-47A08AE48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075245"/>
              </p:ext>
            </p:extLst>
          </p:nvPr>
        </p:nvGraphicFramePr>
        <p:xfrm>
          <a:off x="457200" y="2249488"/>
          <a:ext cx="8382000" cy="415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912">
                <a:tc>
                  <a:txBody>
                    <a:bodyPr/>
                    <a:lstStyle/>
                    <a:p>
                      <a:r>
                        <a:rPr lang="en-US" dirty="0"/>
                        <a:t>access-list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 gt 49151 host 10.1.1.1 eq 23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Packets with a TCP header, any source IP address, with a source port greater  than (gt) 1023, a destination IP address of exactly 10.1.1.1, and a destination  port equal to (eq) 23. 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 host 10.1.1.1 eq 23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The same as the preceding example, but any source port matches, because that parameter is omitted in this case.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host 10.1.1.1 eq telnet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The same as the preceding example. The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telnet keyword is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used instead of port 23.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udp 1.0.0.0 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0.255.255.255 lt 1023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 packet with a source in network 1.0.0.0/8, using UDP with a source port less than (lt) 1023, with any destination IP address.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10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4630E7-3C3A-4B1C-B96C-EB6B67DD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IP Access List Configuration Commands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6866342-1749-4913-B150-F5AD44B67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138012"/>
              </p:ext>
            </p:extLst>
          </p:nvPr>
        </p:nvGraphicFramePr>
        <p:xfrm>
          <a:off x="228600" y="2639311"/>
          <a:ext cx="8686800" cy="329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112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Configuration Mode and</a:t>
                      </a:r>
                      <a:r>
                        <a:rPr lang="en-US" baseline="0" dirty="0"/>
                        <a:t> 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533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 </a:t>
                      </a:r>
                      <a:r>
                        <a:rPr lang="en-US" sz="1800" b="1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access-list-number {deny | permit} protocol </a:t>
                      </a:r>
                      <a:r>
                        <a:rPr lang="en-US" sz="1800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source source-wildcard destination destination-wildcard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 | log-input]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Global command for extended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numbered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 lists. Use a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 between 100 and 199 or 2000 and 2699, inclusive.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533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 </a:t>
                      </a:r>
                      <a:r>
                        <a:rPr lang="en-US" sz="1800" b="1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access-list-number {deny | permit} {tcp | udp} </a:t>
                      </a:r>
                      <a:r>
                        <a:rPr lang="en-US" sz="1800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source source-wildcard [operator [port]] destination destination-wildcard [operator [port]] [</a:t>
                      </a:r>
                      <a:r>
                        <a:rPr lang="en-US" sz="1800" b="1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established] [log]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version of the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command with parameters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specific to TCP and/or UDP.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669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C68C5C-9645-4BC7-BC69-90BA9525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Diagram for Extended Access List Example 1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87F8C09-21D7-4559-B3CD-D2D5267617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5918" y="2741612"/>
            <a:ext cx="6592163" cy="297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33409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93" y="2805111"/>
            <a:ext cx="7704814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7B4C0D-B603-4182-987A-DC2ED3AA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R1’s Extended Access List: Example 1</a:t>
            </a:r>
          </a:p>
        </p:txBody>
      </p:sp>
    </p:spTree>
    <p:extLst>
      <p:ext uri="{BB962C8B-B14F-4D97-AF65-F5344CB8AC3E}">
        <p14:creationId xmlns:p14="http://schemas.microsoft.com/office/powerpoint/2010/main" val="2747675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4BBF01-07C2-4A4D-B2AC-AFF066A4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R3’s Extended Access List Stopping Bob from Reaching FTP Servers Near R1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AB03ACA-5969-446F-9AF3-C2C6808CE1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199" y="2819400"/>
            <a:ext cx="8229601" cy="1982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5635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9087" y="2438400"/>
            <a:ext cx="6045825" cy="3989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3923417-5307-4BE8-9659-266E8AA0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Diagram for Extended Access List Example 2</a:t>
            </a:r>
          </a:p>
        </p:txBody>
      </p:sp>
    </p:spTree>
    <p:extLst>
      <p:ext uri="{BB962C8B-B14F-4D97-AF65-F5344CB8AC3E}">
        <p14:creationId xmlns:p14="http://schemas.microsoft.com/office/powerpoint/2010/main" val="1887012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6" y="3200401"/>
            <a:ext cx="8046713" cy="167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BEEEADE-7638-472B-833C-68D0AA62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Yosemite Configuration for Extended Access List Example 2</a:t>
            </a:r>
          </a:p>
        </p:txBody>
      </p:sp>
    </p:spTree>
    <p:extLst>
      <p:ext uri="{BB962C8B-B14F-4D97-AF65-F5344CB8AC3E}">
        <p14:creationId xmlns:p14="http://schemas.microsoft.com/office/powerpoint/2010/main" val="2652190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3C4CD3-3E39-4071-B16F-0321B275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One-Line Extended ACLs: Practice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21B751-0639-4642-9304-AA1E8F4CC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479812"/>
              </p:ext>
            </p:extLst>
          </p:nvPr>
        </p:nvGraphicFramePr>
        <p:xfrm>
          <a:off x="495300" y="2514600"/>
          <a:ext cx="8153400" cy="3493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web client 10.1.1.1, sent to a web server in subnet 10.1.2.0/24.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Telnet client 172.16.4.3/25, sent to a Telnet server in subnet 172.16.3.0/25. Match all hosts in the client’s subnet as well.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ICMP messages from the subnet in which 192.168.7.200/26 resides to all hosts in the subnet where 192.168.7.14/29 resides.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web server 10.2.3.4/23’s subnet to clients in the same subnet as host 10.4.5.6/22.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Telnet server 172.20.1.0/24’s subnet, sent to any host in the same subnet as host 172.20.44.1/23.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406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3C4CD3-3E39-4071-B16F-0321B275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One-Line Extended ACLs: Practice (continued)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21B751-0639-4642-9304-AA1E8F4CC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229485"/>
              </p:ext>
            </p:extLst>
          </p:nvPr>
        </p:nvGraphicFramePr>
        <p:xfrm>
          <a:off x="457200" y="2514600"/>
          <a:ext cx="8229600" cy="2213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web client 192.168.99.99/28, sent to a web server in subnet 192.168.176.0/28. Match all hosts in the client’s subnet as well.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ICMP messages from the subnet in which 10.55.66.77/25 resides to all hosts in the subnet where 10.66.55.44/26 resides.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and every IPv4 packet.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413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0AF6A8-B69E-4B3B-9DD1-E49DE62B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Named ACL vs. Numbered ACL Configuration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396180B-1D4B-4A07-85CA-EE74072DB9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9563" y="3035301"/>
            <a:ext cx="6744874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8265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2438400"/>
            <a:ext cx="4800600" cy="4208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070BAA2-47B7-4949-9927-2584DA72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Access List Configuration</a:t>
            </a:r>
          </a:p>
        </p:txBody>
      </p:sp>
    </p:spTree>
    <p:extLst>
      <p:ext uri="{BB962C8B-B14F-4D97-AF65-F5344CB8AC3E}">
        <p14:creationId xmlns:p14="http://schemas.microsoft.com/office/powerpoint/2010/main" val="4200765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76A946-C550-46DD-8CAB-1DE94C9D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Removing One Command from a Named ACL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184E612-4B59-4CAB-9F8B-0E4C32A8CC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438400"/>
            <a:ext cx="7296177" cy="292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0852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000" b="1" kern="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308E79-A6CE-46C3-9E11-47333EAE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Editing ACLs Using Sequence Numbers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B22BE5A-50D4-4AAB-BC7C-ABB08519ED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5289" y="2362200"/>
            <a:ext cx="5884673" cy="384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2394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8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0690" y="2667000"/>
            <a:ext cx="678262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91C922F-CD6B-4413-8092-A5863FBC8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Editing ACLs Using Sequence Numbers (continued)</a:t>
            </a:r>
          </a:p>
        </p:txBody>
      </p:sp>
    </p:spTree>
    <p:extLst>
      <p:ext uri="{BB962C8B-B14F-4D97-AF65-F5344CB8AC3E}">
        <p14:creationId xmlns:p14="http://schemas.microsoft.com/office/powerpoint/2010/main" val="393317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5352" y="1371600"/>
            <a:ext cx="5541579" cy="52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6E5D2F5-707F-4544-8025-F9C7F234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24" y="1371600"/>
            <a:ext cx="3429000" cy="4419600"/>
          </a:xfrm>
        </p:spPr>
        <p:txBody>
          <a:bodyPr anchor="t">
            <a:normAutofit/>
          </a:bodyPr>
          <a:lstStyle/>
          <a:p>
            <a:r>
              <a:rPr lang="en-US" sz="3600" dirty="0"/>
              <a:t>Adding To and Displaying a Numbered ACL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113646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D4E82-96F3-4D5A-A13E-2ACE0DBF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Recommendations for ACL Implementation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>
            <a:normAutofit/>
          </a:bodyPr>
          <a:lstStyle/>
          <a:p>
            <a:r>
              <a:rPr lang="en-US" dirty="0"/>
              <a:t>Place extended ACLs as close as possible to the source of the packet. </a:t>
            </a:r>
          </a:p>
          <a:p>
            <a:r>
              <a:rPr lang="en-US" dirty="0"/>
              <a:t>Place standard ACLs as close as possible to the destination of the packet. </a:t>
            </a:r>
          </a:p>
          <a:p>
            <a:r>
              <a:rPr lang="en-US" dirty="0"/>
              <a:t>Place more specific statements early in the ACL.</a:t>
            </a:r>
          </a:p>
          <a:p>
            <a:r>
              <a:rPr lang="en-US" dirty="0"/>
              <a:t>Disable an ACL from its interface (using the no ip access-group interface subcommand) before making changes to the ACL.</a:t>
            </a:r>
          </a:p>
        </p:txBody>
      </p:sp>
    </p:spTree>
    <p:extLst>
      <p:ext uri="{BB962C8B-B14F-4D97-AF65-F5344CB8AC3E}">
        <p14:creationId xmlns:p14="http://schemas.microsoft.com/office/powerpoint/2010/main" val="1680670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CNA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CNA" id="{76486855-F821-4199-92B4-DBA8215E212D}" vid="{A8D61F7B-A554-428E-B4E1-0D2C71B107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13889</TotalTime>
  <Words>882</Words>
  <Application>Microsoft Office PowerPoint</Application>
  <PresentationFormat>On-screen Show (4:3)</PresentationFormat>
  <Paragraphs>179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</vt:lpstr>
      <vt:lpstr>Georgia</vt:lpstr>
      <vt:lpstr>Trebuchet MS</vt:lpstr>
      <vt:lpstr>Wingdings 2</vt:lpstr>
      <vt:lpstr>CCNA</vt:lpstr>
      <vt:lpstr>CCNA 200-301, Volume 2</vt:lpstr>
      <vt:lpstr>Objectives</vt:lpstr>
      <vt:lpstr>Comparisons of IP ACL Types</vt:lpstr>
      <vt:lpstr>IP Header, with Focus on Required Fields in Extended IP ACLs</vt:lpstr>
      <vt:lpstr>Extended ACL Syntax, with Required Fields</vt:lpstr>
      <vt:lpstr>Extended access-list Commands and Logic Explanations</vt:lpstr>
      <vt:lpstr>IP Header, Followed by a TCP Header and Port Number Fields</vt:lpstr>
      <vt:lpstr>Extended ACL Syntax with TCP and UDP Port Numbers Enabled</vt:lpstr>
      <vt:lpstr>Filtering Packets Based on Destination Port</vt:lpstr>
      <vt:lpstr>Filtering Packets Based on Source Port</vt:lpstr>
      <vt:lpstr>Popular Applications and Their Well-Known Port Numbers</vt:lpstr>
      <vt:lpstr>Popular Applications and Their Well-Known Port Numbers (continued)</vt:lpstr>
      <vt:lpstr>Extended access-list Command Examples and Logic Explanations</vt:lpstr>
      <vt:lpstr>Extended IP Access List Configuration Commands</vt:lpstr>
      <vt:lpstr>Network Diagram for Extended Access List Example 1</vt:lpstr>
      <vt:lpstr>R1’s Extended Access List: Example 1</vt:lpstr>
      <vt:lpstr>R3’s Extended Access List Stopping Bob from Reaching FTP Servers Near R1</vt:lpstr>
      <vt:lpstr>Network Diagram for Extended Access List Example 2</vt:lpstr>
      <vt:lpstr>Yosemite Configuration for Extended Access List Example 2</vt:lpstr>
      <vt:lpstr>Building One-Line Extended ACLs: Practice</vt:lpstr>
      <vt:lpstr>Building One-Line Extended ACLs: Practice (continued)</vt:lpstr>
      <vt:lpstr>Named ACL vs. Numbered ACL Configuration</vt:lpstr>
      <vt:lpstr>Named Access List Configuration</vt:lpstr>
      <vt:lpstr>Removing One Command from a Named ACL</vt:lpstr>
      <vt:lpstr>Editing ACLs Using Sequence Numbers</vt:lpstr>
      <vt:lpstr>Editing ACLs Using Sequence Numbers (continued)</vt:lpstr>
      <vt:lpstr>Adding To and Displaying a Numbered ACL Configuration</vt:lpstr>
      <vt:lpstr>General Recommendations for ACL Implementation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Wee</dc:creator>
  <cp:lastModifiedBy>Wee</cp:lastModifiedBy>
  <cp:revision>1511</cp:revision>
  <dcterms:created xsi:type="dcterms:W3CDTF">2012-02-25T16:36:08Z</dcterms:created>
  <dcterms:modified xsi:type="dcterms:W3CDTF">2021-04-18T12:39:03Z</dcterms:modified>
</cp:coreProperties>
</file>